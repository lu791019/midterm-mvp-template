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2926080"/>
            <a:ext cx="274320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spcAft>
                <a:spcPts val="600"/>
              </a:spcAft>
            </a:pPr>
            <a:r>
              <a:rPr sz="3600" b="1" i="0" a:ea="微軟正黑體">
                <a:solidFill>
                  <a:srgbClr val="2F6FE0"/>
                </a:solidFill>
                <a:latin typeface="微軟正黑體"/>
              </a:rPr>
              <a:t>期中活動｜專題報告評估表</a:t>
            </a:r>
          </a:p>
          <a:p>
            <a:pPr algn="ctr">
              <a:lnSpc>
                <a:spcPts val="2700"/>
              </a:lnSpc>
              <a:spcAft>
                <a:spcPts val="0"/>
              </a:spcAft>
            </a:pPr>
            <a:r>
              <a:rPr sz="1800" b="0" i="0" a:ea="微軟正黑體">
                <a:solidFill>
                  <a:srgbClr val="6B6557"/>
                </a:solidFill>
                <a:latin typeface="微軟正黑體"/>
              </a:rPr>
              <a:t>講師用｜10:30-12:00 各組報告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600"/>
              </a:lnSpc>
              <a:spcAft>
                <a:spcPts val="600"/>
              </a:spcAft>
            </a:pPr>
            <a:r>
              <a:rPr sz="2400" b="1" i="0" a:ea="微軟正黑體">
                <a:solidFill>
                  <a:srgbClr val="D97706"/>
                </a:solidFill>
                <a:latin typeface="微軟正黑體"/>
              </a:rPr>
              <a:t>評估維度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7955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5394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 a:ea="微軟正黑體">
                          <a:solidFill>
                            <a:srgbClr val="FFFFFF"/>
                          </a:solidFill>
                          <a:latin typeface="微軟正黑體"/>
                        </a:rPr>
                        <a:t>維度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a:ea="微軟正黑體">
                          <a:solidFill>
                            <a:srgbClr val="FFFFFF"/>
                          </a:solidFill>
                          <a:latin typeface="微軟正黑體"/>
                        </a:rPr>
                        <a:t>權重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a:ea="微軟正黑體">
                          <a:solidFill>
                            <a:srgbClr val="FFFFFF"/>
                          </a:solidFill>
                          <a:latin typeface="微軟正黑體"/>
                        </a:rPr>
                        <a:t>說明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問題定義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25%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要解決什麼業務問題？目標用戶是誰？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資料規劃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25%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用什麼資料？從哪來？確認能取得？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技術架構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25%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Pipeline 怎麼設計？工具選型合理？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分工與時程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15%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誰負責什麼？期末前能做完嗎？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表達清晰度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10%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聽得懂嗎？有流程圖或架構圖？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600"/>
              </a:lnSpc>
              <a:spcAft>
                <a:spcPts val="600"/>
              </a:spcAft>
            </a:pPr>
            <a:r>
              <a:rPr sz="2400" b="1" i="0" a:ea="微軟正黑體">
                <a:solidFill>
                  <a:srgbClr val="D97706"/>
                </a:solidFill>
                <a:latin typeface="微軟正黑體"/>
              </a:rPr>
              <a:t>評分標準（每組一份）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7498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554480"/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 a:ea="微軟正黑體">
                          <a:solidFill>
                            <a:srgbClr val="FFFFFF"/>
                          </a:solidFill>
                          <a:latin typeface="微軟正黑體"/>
                        </a:rPr>
                        <a:t>維度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a:ea="微軟正黑體">
                          <a:solidFill>
                            <a:srgbClr val="FFFFFF"/>
                          </a:solidFill>
                          <a:latin typeface="微軟正黑體"/>
                        </a:rPr>
                        <a:t>1 需加強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a:ea="微軟正黑體">
                          <a:solidFill>
                            <a:srgbClr val="FFFFFF"/>
                          </a:solidFill>
                          <a:latin typeface="微軟正黑體"/>
                        </a:rPr>
                        <a:t>2 基本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a:ea="微軟正黑體">
                          <a:solidFill>
                            <a:srgbClr val="FFFFFF"/>
                          </a:solidFill>
                          <a:latin typeface="微軟正黑體"/>
                        </a:rPr>
                        <a:t>3 良好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a:ea="微軟正黑體">
                          <a:solidFill>
                            <a:srgbClr val="FFFFFF"/>
                          </a:solidFill>
                          <a:latin typeface="微軟正黑體"/>
                        </a:rPr>
                        <a:t>4 優秀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問題定義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問題模糊
沒有明確目標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有問題
但不夠具體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問題清楚
目標明確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精準且有
商業價值論述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資料規劃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沒想過
資料從哪來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有來源
沒看過資料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有資料且
了解欄位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已做 EDA
了解品質限制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技術架構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沒有
架構概念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有工具
沒串起來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有完整
流程圖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架構合理
且有備案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分工時程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沒有分工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有分工
但不清楚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分工明確
有時程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有里程碑
驗收標準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表達清晰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聽不懂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大致能懂
但跳躍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邏輯清楚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流暢且有
圖表輔助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900"/>
              </a:lnSpc>
              <a:spcAft>
                <a:spcPts val="600"/>
              </a:spcAft>
            </a:pPr>
            <a:r>
              <a:rPr sz="2600" b="1" i="0" a:ea="微軟正黑體">
                <a:solidFill>
                  <a:srgbClr val="D97706"/>
                </a:solidFill>
                <a:latin typeface="微軟正黑體"/>
              </a:rPr>
              <a:t>講師回饋模板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每組報告後，用以下結構回饋（2-3 分鐘）：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800" b="0" i="0" a:ea="微軟正黑體">
                <a:solidFill>
                  <a:srgbClr val="1F1B16"/>
                </a:solidFill>
                <a:latin typeface="微軟正黑體"/>
              </a:rPr>
              <a:t/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1.  肯定：「你們的 _____ 做得很好」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2.  建議：「如果能再 _____，會更完整」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3.  連結下午：「下午可以把 _____ 的想法先用 MVP 驗證」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800" b="0" i="0" a:ea="微軟正黑體">
                <a:solidFill>
                  <a:srgbClr val="1F1B16"/>
                </a:solidFill>
                <a:latin typeface="微軟正黑體"/>
              </a:rPr>
              <a:t/>
            </a:r>
          </a:p>
          <a:p>
            <a:pPr algn="l">
              <a:lnSpc>
                <a:spcPts val="2250"/>
              </a:lnSpc>
              <a:spcAft>
                <a:spcPts val="400"/>
              </a:spcAft>
            </a:pPr>
            <a:r>
              <a:rPr sz="1500" b="1" i="0" a:ea="微軟正黑體">
                <a:solidFill>
                  <a:srgbClr val="2F6FE0"/>
                </a:solidFill>
                <a:latin typeface="微軟正黑體"/>
              </a:rPr>
              <a:t>📌 常見回饋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問題太大 →「先縮小範圍，今天下午做一個子問題的 MVP」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沒有資料 →「先用公開資料集驗證流程」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架構太複雜 →「先把 CSV → SQLite → API 跑通」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分工不均 →「每人都碰 pipeline 至少兩個階段」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900"/>
              </a:lnSpc>
              <a:spcAft>
                <a:spcPts val="600"/>
              </a:spcAft>
            </a:pPr>
            <a:r>
              <a:rPr sz="2600" b="1" i="0" a:ea="微軟正黑體">
                <a:solidFill>
                  <a:srgbClr val="D97706"/>
                </a:solidFill>
                <a:latin typeface="微軟正黑體"/>
              </a:rPr>
              <a:t>時間安排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10:30-10:55　第 1 組報告（15-20 min）＋回饋（5 min）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10:55-11:20　第 2 組報告＋回饋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11:20-11:45　第 3 組報告＋回饋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11:45-12:00　整體回饋＋下午預告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800" b="0" i="0" a:ea="微軟正黑體">
                <a:solidFill>
                  <a:srgbClr val="1F1B16"/>
                </a:solidFill>
                <a:latin typeface="微軟正黑體"/>
              </a:rPr>
              <a:t/>
            </a:r>
          </a:p>
          <a:p>
            <a:pPr algn="l">
              <a:lnSpc>
                <a:spcPts val="2250"/>
              </a:lnSpc>
              <a:spcAft>
                <a:spcPts val="400"/>
              </a:spcAft>
            </a:pPr>
            <a:r>
              <a:rPr sz="1500" b="1" i="0" a:ea="微軟正黑體">
                <a:solidFill>
                  <a:srgbClr val="2F6FE0"/>
                </a:solidFill>
                <a:latin typeface="微軟正黑體"/>
              </a:rPr>
              <a:t>📌 計分備忘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組別：_________　總分：_______ / 20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組別：_________　總分：_______ / 20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組別：_________　總分：_______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