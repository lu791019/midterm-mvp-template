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2926080"/>
            <a:ext cx="274320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spcAft>
                <a:spcPts val="600"/>
              </a:spcAft>
            </a:pPr>
            <a:r>
              <a:rPr sz="3600" b="1" i="0" a:ea="微軟正黑體">
                <a:solidFill>
                  <a:srgbClr val="2F6FE0"/>
                </a:solidFill>
                <a:latin typeface="微軟正黑體"/>
              </a:rPr>
              <a:t>LLM × DE MVP Builder 實戰工作坊</a:t>
            </a:r>
          </a:p>
          <a:p>
            <a:pPr algn="ctr">
              <a:lnSpc>
                <a:spcPts val="2700"/>
              </a:lnSpc>
              <a:spcAft>
                <a:spcPts val="0"/>
              </a:spcAft>
            </a:pPr>
            <a:r>
              <a:rPr sz="1800" b="0" i="0" a:ea="微軟正黑體">
                <a:solidFill>
                  <a:srgbClr val="6B6557"/>
                </a:solidFill>
                <a:latin typeface="微軟正黑體"/>
              </a:rPr>
              <a:t>期中活動｜學員事前準備 &amp; 專題報告指引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900"/>
              </a:lnSpc>
              <a:spcAft>
                <a:spcPts val="600"/>
              </a:spcAft>
            </a:pPr>
            <a:r>
              <a:rPr sz="2600" b="1" i="0" a:ea="微軟正黑體">
                <a:solidFill>
                  <a:srgbClr val="D97706"/>
                </a:solidFill>
                <a:latin typeface="微軟正黑體"/>
              </a:rPr>
              <a:t>📅 活動資訊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上午 10:30-12:00 — 各組專題報告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午休 12:00-13:30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下午 13:30-16:30 — MVP Builder 實戰工作坊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地點：（待公告）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900"/>
              </a:lnSpc>
              <a:spcAft>
                <a:spcPts val="600"/>
              </a:spcAft>
            </a:pPr>
            <a:r>
              <a:rPr sz="2600" b="1" i="0" a:ea="微軟正黑體">
                <a:solidFill>
                  <a:srgbClr val="D97706"/>
                </a:solidFill>
                <a:latin typeface="微軟正黑體"/>
              </a:rPr>
              <a:t>✅ 活動前準備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☐  帶筆電（充飽電＋帶充電器）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☐  GitHub 帳號（個人＋團隊 Organization）</a:t>
            </a:r>
          </a:p>
          <a:p>
            <a:pPr algn="l" lvl="1">
              <a:lnSpc>
                <a:spcPts val="2100"/>
              </a:lnSpc>
              <a:spcAft>
                <a:spcPts val="400"/>
              </a:spcAft>
            </a:pPr>
            <a:r>
              <a:rPr sz="1400" b="0" i="0" a:ea="微軟正黑體">
                <a:solidFill>
                  <a:srgbClr val="6B6557"/>
                </a:solidFill>
                <a:latin typeface="微軟正黑體"/>
              </a:rPr>
              <a:t>→ 沒有帳號的務必活動前到 github.com 免費註冊</a:t>
            </a:r>
          </a:p>
          <a:p>
            <a:pPr algn="l" lvl="1">
              <a:lnSpc>
                <a:spcPts val="2100"/>
              </a:lnSpc>
              <a:spcAft>
                <a:spcPts val="400"/>
              </a:spcAft>
            </a:pPr>
            <a:r>
              <a:rPr sz="1400" b="0" i="0" a:ea="微軟正黑體">
                <a:solidFill>
                  <a:srgbClr val="6B6557"/>
                </a:solidFill>
                <a:latin typeface="微軟正黑體"/>
              </a:rPr>
              <a:t>→ 建立方式請參考 repo 中的說明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☐  紙筆（如果你有筆記習慣）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250"/>
              </a:lnSpc>
              <a:spcAft>
                <a:spcPts val="400"/>
              </a:spcAft>
            </a:pPr>
            <a:r>
              <a:rPr sz="1500" b="1" i="0" a:ea="微軟正黑體">
                <a:solidFill>
                  <a:srgbClr val="2F6FE0"/>
                </a:solidFill>
                <a:latin typeface="微軟正黑體"/>
              </a:rPr>
              <a:t>📌 建議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☐  團隊的協作工具確認好（Notion / HackMD / Google Docs）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☐  團隊的溝通工具確認好（LINE 群 / Discord / Slack）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☐  把群組連結提供給講師，方便加入追蹤進度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900"/>
              </a:lnSpc>
              <a:spcAft>
                <a:spcPts val="600"/>
              </a:spcAft>
            </a:pPr>
            <a:r>
              <a:rPr sz="2600" b="1" i="0" a:ea="微軟正黑體">
                <a:solidFill>
                  <a:srgbClr val="D97706"/>
                </a:solidFill>
                <a:latin typeface="微軟正黑體"/>
              </a:rPr>
              <a:t>🔧 下午工作坊準備（建議提前做）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☐  測試 Google Colab 能正常開啟</a:t>
            </a:r>
          </a:p>
          <a:p>
            <a:pPr algn="l" lvl="1">
              <a:lnSpc>
                <a:spcPts val="2100"/>
              </a:lnSpc>
              <a:spcAft>
                <a:spcPts val="400"/>
              </a:spcAft>
            </a:pPr>
            <a:r>
              <a:rPr sz="1400" b="0" i="0" a:ea="微軟正黑體">
                <a:solidFill>
                  <a:srgbClr val="6B6557"/>
                </a:solidFill>
                <a:latin typeface="微軟正黑體"/>
              </a:rPr>
              <a:t>→ colab.google → 新增 Notebook → 跑下面這行：</a:t>
            </a:r>
          </a:p>
          <a:p>
            <a:pPr algn="l" lvl="1">
              <a:lnSpc>
                <a:spcPts val="2100"/>
              </a:lnSpc>
              <a:spcAft>
                <a:spcPts val="400"/>
              </a:spcAft>
            </a:pPr>
            <a:r>
              <a:rPr sz="1400" b="0" i="0" a:ea="微軟正黑體">
                <a:solidFill>
                  <a:srgbClr val="6B6557"/>
                </a:solidFill>
                <a:latin typeface="微軟正黑體"/>
              </a:rPr>
              <a:t>→ import pandas as pd; print(pd.__version__)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☐  提前瀏覽 6 個題目（選 1 個）</a:t>
            </a:r>
          </a:p>
          <a:p>
            <a:pPr algn="l" lvl="1">
              <a:lnSpc>
                <a:spcPts val="2100"/>
              </a:lnSpc>
              <a:spcAft>
                <a:spcPts val="400"/>
              </a:spcAft>
            </a:pPr>
            <a:r>
              <a:rPr sz="1400" b="0" i="0" a:ea="微軟正黑體">
                <a:solidFill>
                  <a:srgbClr val="6B6557"/>
                </a:solidFill>
                <a:latin typeface="微軟正黑體"/>
              </a:rPr>
              <a:t>→ github.com/lu791019/midterm-mvp-template</a:t>
            </a:r>
          </a:p>
          <a:p>
            <a:pPr algn="l" lvl="1">
              <a:lnSpc>
                <a:spcPts val="2100"/>
              </a:lnSpc>
              <a:spcAft>
                <a:spcPts val="400"/>
              </a:spcAft>
            </a:pPr>
            <a:r>
              <a:rPr sz="1400" b="0" i="0" a:ea="微軟正黑體">
                <a:solidFill>
                  <a:srgbClr val="6B6557"/>
                </a:solidFill>
                <a:latin typeface="微軟正黑體"/>
              </a:rPr>
              <a:t>→ 看 data/raw/topic_1/ ~ topic_6/ 的 requirements_spec.md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☐  Clone repo（或活動當天再 clone 也行）</a:t>
            </a:r>
          </a:p>
          <a:p>
            <a:pPr algn="l" lvl="1">
              <a:lnSpc>
                <a:spcPts val="2100"/>
              </a:lnSpc>
              <a:spcAft>
                <a:spcPts val="400"/>
              </a:spcAft>
            </a:pPr>
            <a:r>
              <a:rPr sz="1400" b="0" i="0" a:ea="微軟正黑體">
                <a:solidFill>
                  <a:srgbClr val="6B6557"/>
                </a:solidFill>
                <a:latin typeface="微軟正黑體"/>
              </a:rPr>
              <a:t>→ git clone https://github.com/lu791019/midterm-mvp-template.git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900"/>
              </a:lnSpc>
              <a:spcAft>
                <a:spcPts val="600"/>
              </a:spcAft>
            </a:pPr>
            <a:r>
              <a:rPr sz="2600" b="1" i="0" a:ea="微軟正黑體">
                <a:solidFill>
                  <a:srgbClr val="D97706"/>
                </a:solidFill>
                <a:latin typeface="微軟正黑體"/>
              </a:rPr>
              <a:t>📋 上午專題報告說明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目的：讓講師和其他組了解你們的期末專題方向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格式：不限（投影片 / HackMD / Notion / 手繪白板都行）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時間：每組 25 分鐘（報告 15-20 min＋回饋 5-10 min）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報告內容分兩部分：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🔴  核心（第 1~5 項）— 必備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🟡  延伸（第 6~8 項）— 加分，時間不夠可以跳過</a:t>
            </a:r>
          </a:p>
          <a:p>
            <a:pPr algn="l">
              <a:lnSpc>
                <a:spcPts val="2100"/>
              </a:lnSpc>
              <a:spcAft>
                <a:spcPts val="0"/>
              </a:spcAft>
            </a:pPr>
            <a:r>
              <a:rPr sz="1400" b="0" i="1" a:ea="微軟正黑體">
                <a:solidFill>
                  <a:srgbClr val="5391FF"/>
                </a:solidFill>
                <a:latin typeface="微軟正黑體"/>
              </a:rPr>
              <a:t>💡 先把 1~5 準備好就夠了，6~8 可以報告後透過討論補充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2400" b="1" i="0" a:ea="微軟正黑體">
                <a:solidFill>
                  <a:srgbClr val="D97706"/>
                </a:solidFill>
                <a:latin typeface="微軟正黑體"/>
              </a:rPr>
              <a:t>🔴 核心（必備）— 報告內容 1~5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955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56032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#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項目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說明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製作動機 &amp; 業務問題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要解決什麼問題？為什麼重要？
一句話：「幫 _____ 解決 _____ 的問題」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至少一項資料來源
確認能取得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不是「打算用」，是「已確認拿得到」
API 已測過 / CSV 已下載看過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資料取得方式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Kaggle 下載 / 政府 Open Data /
API 呼叫 / 爬蟲 / 公司內部？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資料欄位和格式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列出 5-10 個關鍵欄位
標出型別（數字/文字/日期）、約幾筆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預期產出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Dashboard / API / 報告 / 模型？
誰會用？看什麼指標？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2400" b="1" i="0" a:ea="微軟正黑體">
                <a:solidFill>
                  <a:srgbClr val="D97706"/>
                </a:solidFill>
                <a:latin typeface="微軟正黑體"/>
              </a:rPr>
              <a:t>🟡 延伸（加分）— 報告內容 6~8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955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56032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#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項目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a:ea="微軟正黑體">
                          <a:solidFill>
                            <a:srgbClr val="FFFFFF"/>
                          </a:solidFill>
                          <a:latin typeface="微軟正黑體"/>
                        </a:rPr>
                        <a:t>說明</a:t>
                      </a:r>
                    </a:p>
                  </a:txBody>
                  <a:tcPr anchor="ctr">
                    <a:solidFill>
                      <a:srgbClr val="D9770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初步技術堆疊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用什麼工具？pandas / SQLite /
Airflow / Docker / BigQuery / LLM
標出「已學」vs「待學」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流程圖或 Pipeline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資料從進來到產出的路徑
方塊＋箭頭就夠
看得出 input → 處理 → output</a:t>
                      </a:r>
                    </a:p>
                  </a:txBody>
                  <a:tcPr anchor="t" marL="73152" marR="73152" marT="45720" marB="45720"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風險 &amp; 每週進度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a:ea="微軟正黑體">
                          <a:solidFill>
                            <a:srgbClr val="1F1B16"/>
                          </a:solidFill>
                          <a:latin typeface="微軟正黑體"/>
                        </a:rPr>
                        <a:t>2-3 個預期風險
到期末的週計畫（初步規劃）</a:t>
                      </a:r>
                    </a:p>
                  </a:txBody>
                  <a:tcPr anchor="t" marL="73152" marR="73152" marT="45720" marB="45720"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1950"/>
              </a:lnSpc>
              <a:spcAft>
                <a:spcPts val="600"/>
              </a:spcAft>
            </a:pPr>
            <a:r>
              <a:rPr sz="1300" b="0" i="1" a:ea="微軟正黑體">
                <a:solidFill>
                  <a:srgbClr val="5391FF"/>
                </a:solidFill>
                <a:latin typeface="微軟正黑體"/>
              </a:rPr>
              <a:t>💡 時間不夠？先報告 1~5，討論時再補充 6~8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900"/>
              </a:lnSpc>
              <a:spcAft>
                <a:spcPts val="600"/>
              </a:spcAft>
            </a:pPr>
            <a:r>
              <a:rPr sz="2600" b="1" i="0" a:ea="微軟正黑體">
                <a:solidFill>
                  <a:srgbClr val="D97706"/>
                </a:solidFill>
                <a:latin typeface="微軟正黑體"/>
              </a:rPr>
              <a:t>📝 報告模板（可直接複製填寫）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1. 製作動機：我們要幫 _____ 解決 _____ 的問題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2. 資料來源：_____ （☐ 已下載  ☐ 已測 API  ☐ 尚未取得）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3. 取得方式：_____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4. 關鍵欄位：_____（型別 / 筆數）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5. 預期產出：_____（誰用 / 看什麼指標）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250"/>
              </a:lnSpc>
              <a:spcAft>
                <a:spcPts val="400"/>
              </a:spcAft>
            </a:pPr>
            <a:r>
              <a:rPr sz="1500" b="1" i="0" a:ea="微軟正黑體">
                <a:solidFill>
                  <a:srgbClr val="2F6FE0"/>
                </a:solidFill>
                <a:latin typeface="微軟正黑體"/>
              </a:rPr>
              <a:t>— 以下為加分項，時間不夠可跳過 —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6. 技術堆疊：_____（已學 / 待學）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7. Pipeline：資料來源 → _____ → _____ → 產出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8. 風險 &amp; 進度：_____</a:t>
            </a:r>
          </a:p>
          <a:p>
            <a:pPr algn="l">
              <a:lnSpc>
                <a:spcPts val="2100"/>
              </a:lnSpc>
              <a:spcAft>
                <a:spcPts val="0"/>
              </a:spcAft>
            </a:pPr>
            <a:r>
              <a:rPr sz="1400" b="0" i="1" a:ea="微軟正黑體">
                <a:solidFill>
                  <a:srgbClr val="5391FF"/>
                </a:solidFill>
                <a:latin typeface="微軟正黑體"/>
              </a:rPr>
              <a:t>Markdown 版在 repo：_instructor/student_pre_event_notice.md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900"/>
              </a:lnSpc>
              <a:spcAft>
                <a:spcPts val="600"/>
              </a:spcAft>
            </a:pPr>
            <a:r>
              <a:rPr sz="2600" b="1" i="0" a:ea="微軟正黑體">
                <a:solidFill>
                  <a:srgbClr val="D97706"/>
                </a:solidFill>
                <a:latin typeface="微軟正黑體"/>
              </a:rPr>
              <a:t>🔧 下午工作坊簡介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每人選 1 題，獨立完成 Mini Data Pipeline：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CSV → pandas → SQLite (Bronze/Silver/Gold) → SQL → LLM → FastAPI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實作 1（45 min）：Section 0-3（ETL＋SQL）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實作 2（45 min）：Section 4-8（LLM＋報告＋API）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Demo（30 min）：每人 2 分鐘</a:t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Dashboard＝回家作業（Section 9-10）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ts val="3900"/>
              </a:lnSpc>
              <a:spcAft>
                <a:spcPts val="600"/>
              </a:spcAft>
            </a:pPr>
            <a:r>
              <a:rPr sz="2600" b="1" i="0" a:ea="微軟正黑體">
                <a:solidFill>
                  <a:srgbClr val="D97706"/>
                </a:solidFill>
                <a:latin typeface="微軟正黑體"/>
              </a:rPr>
              <a:t>❓ 常見問題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Q：不會 Python 怎麼辦？</a:t>
            </a:r>
          </a:p>
          <a:p>
            <a:pPr algn="l" lvl="1">
              <a:lnSpc>
                <a:spcPts val="2100"/>
              </a:lnSpc>
              <a:spcAft>
                <a:spcPts val="400"/>
              </a:spcAft>
            </a:pPr>
            <a:r>
              <a:rPr sz="1400" b="0" i="0" a:ea="微軟正黑體">
                <a:solidFill>
                  <a:srgbClr val="6B6557"/>
                </a:solidFill>
                <a:latin typeface="微軟正黑體"/>
              </a:rPr>
              <a:t>→ Notebook 有步驟提示和參考程式碼，也可以用 ChatGPT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Q：沒有 OpenAI API Key 怎麼辦？</a:t>
            </a:r>
          </a:p>
          <a:p>
            <a:pPr algn="l" lvl="1">
              <a:lnSpc>
                <a:spcPts val="2100"/>
              </a:lnSpc>
              <a:spcAft>
                <a:spcPts val="400"/>
              </a:spcAft>
            </a:pPr>
            <a:r>
              <a:rPr sz="1400" b="0" i="0" a:ea="微軟正黑體">
                <a:solidFill>
                  <a:srgbClr val="6B6557"/>
                </a:solidFill>
                <a:latin typeface="微軟正黑體"/>
              </a:rPr>
              <a:t>→ LLM 有 fallback 規則版，不需要 API Key 也能完成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Q：專題報告準備不完怎麼辦？</a:t>
            </a:r>
          </a:p>
          <a:p>
            <a:pPr algn="l" lvl="1">
              <a:lnSpc>
                <a:spcPts val="2100"/>
              </a:lnSpc>
              <a:spcAft>
                <a:spcPts val="400"/>
              </a:spcAft>
            </a:pPr>
            <a:r>
              <a:rPr sz="1400" b="0" i="0" a:ea="微軟正黑體">
                <a:solidFill>
                  <a:srgbClr val="6B6557"/>
                </a:solidFill>
                <a:latin typeface="微軟正黑體"/>
              </a:rPr>
              <a:t>→ 先準備 1~5 就好，6~8 討論時補充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800" b="0" i="0" a:ea="微軟正黑體">
                <a:solidFill>
                  <a:srgbClr val="1F1B16"/>
                </a:solidFill>
                <a:latin typeface="微軟正黑體"/>
              </a:rPr>
              <a:t/>
            </a:r>
          </a:p>
          <a:p>
            <a:pPr algn="l">
              <a:lnSpc>
                <a:spcPts val="2400"/>
              </a:lnSpc>
              <a:spcAft>
                <a:spcPts val="500"/>
              </a:spcAft>
            </a:pPr>
            <a:r>
              <a:rPr sz="1600" b="0" i="0" a:ea="微軟正黑體">
                <a:solidFill>
                  <a:srgbClr val="1F1B16"/>
                </a:solidFill>
                <a:latin typeface="微軟正黑體"/>
              </a:rPr>
              <a:t>Q：下午做不完怎麼辦？</a:t>
            </a:r>
          </a:p>
          <a:p>
            <a:pPr algn="l" lvl="1">
              <a:lnSpc>
                <a:spcPts val="2100"/>
              </a:lnSpc>
              <a:spcAft>
                <a:spcPts val="400"/>
              </a:spcAft>
            </a:pPr>
            <a:r>
              <a:rPr sz="1400" b="0" i="0" a:ea="微軟正黑體">
                <a:solidFill>
                  <a:srgbClr val="6B6557"/>
                </a:solidFill>
                <a:latin typeface="微軟正黑體"/>
              </a:rPr>
              <a:t>→ 完成到哪就 Demo 到哪，repo 帶走課後繼續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